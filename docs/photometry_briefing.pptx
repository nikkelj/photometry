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C98500"/>
                </a:solidFill>
              </a:rPr>
              <a:t>CONSTELLATION PHOTOMETRY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Satellite Attitude &amp; Shape from 30,000 Star Trackers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2B7"/>
                </a:solidFill>
              </a:rPr>
              <a:t>Turning a 10,000-satellite fleet's star trackers into an opportunistic photometric sensor network — and inverting the aggregated visual magnitudes into spin state, convex shape, catalog identity, array configuration, and catalog deviations.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43159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87E5"/>
                </a:solidFill>
              </a:rPr>
              <a:t>&lt;1 ms / 0.1°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96112" y="501091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baseline spin period / pole recovery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4206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43159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AF7A"/>
                </a:solidFill>
              </a:rPr>
              <a:t>20/21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85032" y="501091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attitude-mode classifications correct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4206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43159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5926"/>
                </a:solidFill>
              </a:rPr>
              <a:t>20/21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73952" y="501091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library identifications correct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98280" y="4206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431596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55181"/>
                </a:solidFill>
              </a:rPr>
              <a:t>+0.55 m²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262872" y="501091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seeded missing-antenna deviation detected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8781"/>
                </a:solidFill>
              </a:rPr>
              <a:t>nikkelj/photometry  ·  PRs #1–#3  ·  simulation + inversion stack + catalog-scale funnel, 18 passing tests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a constellation beats a telescope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3C2B7"/>
                </a:solidFill>
              </a:rPr>
              <a:t>One ground telescope sees one light curve — a single slowly-moving line of sight. </a:t>
            </a:r>
            <a:pPr indent="0" marL="0">
              <a:buNone/>
            </a:pPr>
            <a:r>
              <a:rPr lang="en-US" sz="1500" dirty="0">
                <a:solidFill>
                  <a:srgbClr val="898781"/>
                </a:solidFill>
              </a:rPr>
              <a:t>The classical light-curve inversion problem is ill-posed for exactly that reason.
</a:t>
            </a:r>
            <a:pPr indent="0" marL="0">
              <a:buNone/>
            </a:pPr>
            <a:r>
              <a:rPr lang="en-US" sz="1500" b="1" dirty="0">
                <a:solidFill>
                  <a:srgbClr val="3987E5"/>
                </a:solidFill>
              </a:rPr>
              <a:t>10,000 satellites × 3 star trackers, canted +5° above the local horizontal, </a:t>
            </a:r>
            <a:pPr indent="0" marL="0">
              <a:buNone/>
            </a:pPr>
            <a:r>
              <a:rPr lang="en-US" sz="1500" dirty="0">
                <a:solidFill>
                  <a:srgbClr val="C3C2B7"/>
                </a:solidFill>
              </a:rPr>
              <a:t>opportunistically detect any object above the shell thousands of times per day, from hundreds of directions at once — a tomographic sampling of the target's reflected light field.
</a:t>
            </a:r>
            <a:pPr indent="0" marL="0">
              <a:buNone/>
            </a:pPr>
            <a:r>
              <a:rPr lang="en-US" sz="1500" dirty="0">
                <a:solidFill>
                  <a:srgbClr val="C3C2B7"/>
                </a:solidFill>
              </a:rPr>
              <a:t>Each detection: time, line of sight, apparent magnitude. Range is known from multi-observer orbit determination, so every sample becomes range-normalized brightness at one (sun, observer) direction pair.</a:t>
            </a:r>
            <a:endParaRPr lang="en-US" sz="1500" dirty="0"/>
          </a:p>
        </p:txBody>
      </p:sp>
      <p:pic>
        <p:nvPicPr>
          <p:cNvPr id="5" name="Image 0" descr="/home/user/photometry/results/charts/02_cover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600200"/>
            <a:ext cx="6035040" cy="2423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41148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8781"/>
                </a:solidFill>
              </a:rPr>
              <a:t>Observer directions in the target body frame over one day (left) and the phase-angle diversity of the aggregate (right) — coverage no single site can produce.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0" y="489204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33872" y="5001768"/>
            <a:ext cx="259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87E5"/>
                </a:solidFill>
              </a:rPr>
              <a:t>5,703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833872" y="5696712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detections, 588 observers — one 3.2 h baseline arc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778240" y="489204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42832" y="5001768"/>
            <a:ext cx="2596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8500"/>
                </a:solidFill>
              </a:rPr>
              <a:t>14–142°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942832" y="5696712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solar phase angle span of the same arc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EGI — what photometry can and cannot know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5926"/>
                </a:solidFill>
              </a:rPr>
              <a:t>Extended Gaussian Image: </a:t>
            </a:r>
            <a:pPr indent="0" marL="0">
              <a:buNone/>
            </a:pPr>
            <a:r>
              <a:rPr lang="en-US" sz="1450" dirty="0">
                <a:solidFill>
                  <a:srgbClr val="C3C2B7"/>
                </a:solidFill>
              </a:rPr>
              <a:t>for every surface patch, take its outward normal direction and its reflecting area, and pile the area onto a sphere of directions. The EGI is “reflecting area per unit direction.”
</a:t>
            </a:r>
            <a:pPr indent="0" marL="0">
              <a:buNone/>
            </a:pPr>
            <a:r>
              <a:rPr lang="en-US" sz="1450" b="1" dirty="0">
                <a:solidFill>
                  <a:srgbClr val="C3C2B7"/>
                </a:solidFill>
              </a:rPr>
              <a:t>It is ALL photometry can see. </a:t>
            </a:r>
            <a:pPr indent="0" marL="0">
              <a:buNone/>
            </a:pPr>
            <a:r>
              <a:rPr lang="en-US" sz="1450" dirty="0">
                <a:solidFill>
                  <a:srgbClr val="C3C2B7"/>
                </a:solidFill>
              </a:rPr>
              <a:t>An unresolved dot's brightness is a weighted integral of oriented area — position on the body is unrecoverable. A panel mounted left of the bus and the same panel mounted right produce identical light curves.
</a:t>
            </a:r>
            <a:pPr indent="0" marL="0">
              <a:buNone/>
            </a:pPr>
            <a:r>
              <a:rPr lang="en-US" sz="1450" b="1" dirty="0">
                <a:solidFill>
                  <a:srgbClr val="C3C2B7"/>
                </a:solidFill>
              </a:rPr>
              <a:t>It is ENOUGH to get a body back. </a:t>
            </a:r>
            <a:pPr indent="0" marL="0">
              <a:buNone/>
            </a:pPr>
            <a:r>
              <a:rPr lang="en-US" sz="1450" dirty="0">
                <a:solidFill>
                  <a:srgbClr val="C3C2B7"/>
                </a:solidFill>
              </a:rPr>
              <a:t>Minkowski's theorem: a valid EGI corresponds to exactly one convex body (up to translation). We invert brightness → EGI (convex least squares), then EGI → solid (variational support-functional solve).
</a:t>
            </a:r>
            <a:pPr indent="0" marL="0">
              <a:buNone/>
            </a:pPr>
            <a:r>
              <a:rPr lang="en-US" sz="1450" b="1" dirty="0">
                <a:solidFill>
                  <a:srgbClr val="1BAF7A"/>
                </a:solidFill>
              </a:rPr>
              <a:t>vs photogrammetry: </a:t>
            </a:r>
            <a:pPr indent="0" marL="0">
              <a:buNone/>
            </a:pPr>
            <a:r>
              <a:rPr lang="en-US" sz="1450" dirty="0">
                <a:solidFill>
                  <a:srgbClr val="C3C2B7"/>
                </a:solidFill>
              </a:rPr>
              <a:t>photogrammetry triangulates point positions from resolved images. Photometry is the unresolved limit — no pixels on target, ever — so we get the direction-space dual of a surface model: oriented area, no positions.</a:t>
            </a:r>
            <a:endParaRPr lang="en-US" sz="1450" dirty="0"/>
          </a:p>
        </p:txBody>
      </p:sp>
      <p:pic>
        <p:nvPicPr>
          <p:cNvPr id="5" name="Image 0" descr="/home/user/photometry/results/charts/05_eg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554480"/>
            <a:ext cx="548640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0" y="3611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8781"/>
                </a:solidFill>
              </a:rPr>
              <a:t>Recovered EGI vs truth for the baseline box-wing: 99% of recovered area within 15° of true facet normals.</a:t>
            </a:r>
            <a:endParaRPr lang="en-US" sz="1100" dirty="0"/>
          </a:p>
        </p:txBody>
      </p:sp>
      <p:pic>
        <p:nvPicPr>
          <p:cNvPr id="7" name="Image 1" descr="/home/user/photometry/results/deck_stills/deck_katalyst_link__tumb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4114800"/>
            <a:ext cx="5486400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0" y="6400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8781"/>
                </a:solidFill>
              </a:rPr>
              <a:t>Raw EGI disks (magenta, positions deliberately exploded — they have none), the Minkowski solid (orange), truth (blue).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MODELING PROGRESSION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Truth side — making the simulated world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786384"/>
          </a:xfrm>
          <a:prstGeom prst="roundRect">
            <a:avLst>
              <a:gd name="adj" fmla="val 9302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4475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87E5"/>
                </a:solidFill>
              </a:rPr>
              <a:t>T1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144475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Sensor fleet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11880" y="1426464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Walker shell 100×100 @ 550 km/53°, three +5°-canted trackers per sat, FOV / sun exclusion / Earth-limb / eclipse. Finding: up-canted trackers only see objects ABOVE the shell.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249424"/>
            <a:ext cx="11201400" cy="786384"/>
          </a:xfrm>
          <a:prstGeom prst="roundRect">
            <a:avLst>
              <a:gd name="adj" fmla="val 9302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2257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87E5"/>
                </a:solidFill>
              </a:rPr>
              <a:t>T2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232257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Radiometry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2304288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Facet BRDFs — Lambert + Phong per material (MLI, solar cells, white paint, antenna). Glints carry the sharpest attitude information.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127248"/>
            <a:ext cx="11201400" cy="786384"/>
          </a:xfrm>
          <a:prstGeom prst="roundRect">
            <a:avLst>
              <a:gd name="adj" fmla="val 9302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004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AF7A"/>
                </a:solidFill>
              </a:rPr>
              <a:t>T3–T4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200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Targets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1880" y="318211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Generic box-wing baseline, then a 7-satellite library from open-source dimensions: Starlink v1.5 / v2 mini / v2 mini DTC, BlueWalker 3, Hubble, ISS, Katalyst LINK.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05072"/>
            <a:ext cx="11201400" cy="786384"/>
          </a:xfrm>
          <a:prstGeom prst="roundRect">
            <a:avLst>
              <a:gd name="adj" fmla="val 9302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78224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AF7A"/>
                </a:solidFill>
              </a:rPr>
              <a:t>T5–T6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07822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Attitude &amp; articulation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11880" y="4059936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LVLH-hold ops, knife-edge low-drag, sun-point, inertial pointing, propeller tumble — plus per-facet solar-array gimbals (1-axis / 2-axis) tracking the sun.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882896"/>
            <a:ext cx="11201400" cy="786384"/>
          </a:xfrm>
          <a:prstGeom prst="roundRect">
            <a:avLst>
              <a:gd name="adj" fmla="val 9302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95604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926"/>
                </a:solidFill>
              </a:rPr>
              <a:t>T7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49560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Saturation as censoring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11880" y="4937760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Saturated streaks recorded as brighter-than-cap lower bounds, not dropped. ISS-class targets are ~80% censored.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760720"/>
            <a:ext cx="11201400" cy="786384"/>
          </a:xfrm>
          <a:prstGeom prst="roundRect">
            <a:avLst>
              <a:gd name="adj" fmla="val 9302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83387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926"/>
                </a:solidFill>
              </a:rPr>
              <a:t>T8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54480" y="583387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Torque-free tumble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611880" y="5815584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Full Euler dynamics, triaxial inertia, nutating ω (energy conserved to 3e-8) — LINK's actual anomaly class.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MODELING PROGRESSION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Algorithm side — the inversion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988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87E5"/>
                </a:solidFill>
              </a:rPr>
              <a:t>A1–A2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0200" y="13898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Spin state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703320" y="138988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Arc-sized Lomb–Scargle + pole grid (sphere × phase × body spin axis) + refinement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0" y="13898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87E5"/>
                </a:solidFill>
              </a:rPr>
              <a:t>period sub-ms, pole 0.1°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2996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4825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87E5"/>
                </a:solidFill>
              </a:rPr>
              <a:t>A3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04825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Shape (EGI)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03320" y="204825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Joint Lambert + specular NNLS, dead-column pruning, scale-aware ridge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61120" y="204825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87E5"/>
                </a:solidFill>
              </a:rPr>
              <a:t>99% of area on true normals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688336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0662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AF7A"/>
                </a:solidFill>
              </a:rPr>
              <a:t>A4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27066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Mode classifier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03320" y="270662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Named operational laws + fitted spin / inertial families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61120" y="270662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AF7A"/>
                </a:solidFill>
              </a:rPr>
              <a:t>20/21 scenarios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46704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6499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AF7A"/>
                </a:solidFill>
              </a:rPr>
              <a:t>A5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33649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Minkowski solid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03320" y="336499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Variational support-functional solve (L-BFGS-B, analytic gradient)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0" y="3364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AF7A"/>
                </a:solidFill>
              </a:rPr>
              <a:t>slab proportions exact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005072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023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926"/>
                </a:solidFill>
              </a:rPr>
              <a:t>A6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00200" y="40233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Library ID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703320" y="402336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Model × attitude family × array config, 0.5-mag offset prior for size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961120" y="40233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926"/>
                </a:solidFill>
              </a:rPr>
              <a:t>20/21 — DTC vs v2 mini separable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66344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68172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926"/>
                </a:solidFill>
              </a:rPr>
              <a:t>A7–A8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00200" y="46817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Deviation alerts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703320" y="468172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Symmetry-group refinement + signed residual EGI + alert criteria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961120" y="468172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926"/>
                </a:solidFill>
              </a:rPr>
              <a:t>20/21 decisions fleet-wide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532180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34009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55181"/>
                </a:solidFill>
              </a:rPr>
              <a:t>A9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600200" y="534009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Censoring-aware costs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703320" y="534009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One-sided Tobit terms, stratified sampling, coherent period ladder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961120" y="534009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55181"/>
                </a:solidFill>
              </a:rPr>
              <a:t>ISS size info restored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5980176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99846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55181"/>
                </a:solidFill>
              </a:rPr>
              <a:t>A10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00200" y="59984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Torque-free fit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703320" y="599846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Window-laddered multi-start over inertia + rate + attitude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961120" y="599846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55181"/>
                </a:solidFill>
              </a:rPr>
              <a:t>attitude error halved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RESULTS — BASELINE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Tumbling box-wing, one 3.2-hour arc</a:t>
            </a:r>
            <a:endParaRPr lang="en-US" sz="3000" dirty="0"/>
          </a:p>
        </p:txBody>
      </p:sp>
      <p:pic>
        <p:nvPicPr>
          <p:cNvPr id="4" name="Image 0" descr="/home/user/photometry/results/charts/00_summary_ti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11201400" cy="1874520"/>
          </a:xfrm>
          <a:prstGeom prst="rect">
            <a:avLst/>
          </a:prstGeom>
        </p:spPr>
      </p:pic>
      <p:pic>
        <p:nvPicPr>
          <p:cNvPr id="5" name="Image 1" descr="/home/user/photometry/results/charts/01_lightcur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3429000"/>
            <a:ext cx="5852160" cy="3108960"/>
          </a:xfrm>
          <a:prstGeom prst="rect">
            <a:avLst/>
          </a:prstGeom>
        </p:spPr>
      </p:pic>
      <p:pic>
        <p:nvPicPr>
          <p:cNvPr id="6" name="Image 2" descr="/home/user/photometry/results/charts/03_periodogram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37960" y="3429000"/>
            <a:ext cx="5166360" cy="2286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537960" y="58064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8781"/>
                </a:solidFill>
              </a:rPr>
              <a:t>Every point in the light curve is a different star tracker. The multi-observer periodogram peak is razor sharp — the alias structure that plagues single-site light curves is gone.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RESULTS — BASELINE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Spin pole and shape from magnitudes alone</a:t>
            </a:r>
            <a:endParaRPr lang="en-US" sz="3000" dirty="0"/>
          </a:p>
        </p:txBody>
      </p:sp>
      <p:pic>
        <p:nvPicPr>
          <p:cNvPr id="4" name="Image 0" descr="/home/user/photometry/results/charts/04_pole_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5577840" cy="3200400"/>
          </a:xfrm>
          <a:prstGeom prst="rect">
            <a:avLst/>
          </a:prstGeom>
        </p:spPr>
      </p:pic>
      <p:pic>
        <p:nvPicPr>
          <p:cNvPr id="5" name="Image 1" descr="/home/user/photometry/results/charts/05_eg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4709160"/>
            <a:ext cx="7680960" cy="1920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0" y="155448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987E5"/>
                </a:solidFill>
              </a:rPr>
              <a:t>Pole search: </a:t>
            </a:r>
            <a:pPr indent="0" marL="0">
              <a:buNone/>
            </a:pPr>
            <a:r>
              <a:rPr lang="en-US" sz="1450" dirty="0">
                <a:solidFill>
                  <a:srgbClr val="C3C2B7"/>
                </a:solidFill>
              </a:rPr>
              <a:t>global grid over the celestial sphere; the antipodal twin is the spin-axis sign ambiguity, carried explicitly.
</a:t>
            </a:r>
            <a:pPr indent="0" marL="0">
              <a:buNone/>
            </a:pPr>
            <a:r>
              <a:rPr lang="en-US" sz="1450" b="1" dirty="0">
                <a:solidFill>
                  <a:srgbClr val="D95926"/>
                </a:solidFill>
              </a:rPr>
              <a:t>EGI recovery: </a:t>
            </a:r>
            <a:pPr indent="0" marL="0">
              <a:buNone/>
            </a:pPr>
            <a:r>
              <a:rPr lang="en-US" sz="1450" dirty="0">
                <a:solidFill>
                  <a:srgbClr val="C3C2B7"/>
                </a:solidFill>
              </a:rPr>
              <a:t>the anti-sunward facet is never illuminated during the arc and is correctly reported unobservable — the algorithm knows what it cannot know.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RESULTS — FLEET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21 scenarios × 24 hours: mode classification</a:t>
            </a:r>
            <a:endParaRPr lang="en-US" sz="3000" dirty="0"/>
          </a:p>
        </p:txBody>
      </p:sp>
      <p:pic>
        <p:nvPicPr>
          <p:cNvPr id="4" name="Image 0" descr="/home/user/photometry/results/charts/06_fleet_mod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553212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55448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3C2B7"/>
                </a:solidFill>
              </a:rPr>
              <a:t>Seven satellites × their operational modes, each simulated for a day and classified against a bank of attitude hypotheses.
</a:t>
            </a:r>
            <a:pPr indent="0" marL="0">
              <a:buNone/>
            </a:pPr>
            <a:r>
              <a:rPr lang="en-US" sz="1450" b="1" dirty="0">
                <a:solidFill>
                  <a:srgbClr val="1BAF7A"/>
                </a:solidFill>
              </a:rPr>
              <a:t>20/21 correct. </a:t>
            </a:r>
            <a:pPr indent="0" marL="0">
              <a:buNone/>
            </a:pPr>
            <a:r>
              <a:rPr lang="en-US" sz="1450" dirty="0">
                <a:solidFill>
                  <a:srgbClr val="C3C2B7"/>
                </a:solidFill>
              </a:rPr>
              <a:t>The single miss is physics, not software: Hubble tumbling about its own cylinder axis is photometrically near-static — an axisymmetric body's rotation about its symmetry axis is unobservable.
</a:t>
            </a:r>
            <a:pPr indent="0" marL="0">
              <a:buNone/>
            </a:pPr>
            <a:r>
              <a:rPr lang="en-US" sz="1450" dirty="0">
                <a:solidFill>
                  <a:srgbClr val="C3C2B7"/>
                </a:solidFill>
              </a:rPr>
              <a:t>Sun-tracking arrays are not body-fixed: ops-mode shape recovery correctly returns the bus + fixed antennas only, with the array's area appearing at the sun direction in the body frame.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RESULTS — IDENTIFICATION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Which catalog object is this, in what state?</a:t>
            </a:r>
            <a:endParaRPr lang="en-US" sz="3000" dirty="0"/>
          </a:p>
        </p:txBody>
      </p:sp>
      <p:pic>
        <p:nvPicPr>
          <p:cNvPr id="4" name="Image 0" descr="/home/user/photometry/results/charts/08_model_mat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5120640" cy="525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554480"/>
            <a:ext cx="57150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5926"/>
                </a:solidFill>
              </a:rPr>
              <a:t>How to read the grid: </a:t>
            </a:r>
            <a:pPr indent="0" marL="0">
              <a:buNone/>
            </a:pPr>
            <a:r>
              <a:rPr lang="en-US" sz="1350" dirty="0">
                <a:solidFill>
                  <a:srgbClr val="C3C2B7"/>
                </a:solidFill>
              </a:rPr>
              <a:t>the attitude bank is spacecraft-agnostic — LVLH-hold, knife-edge, sun-point, fitted spin, fitted inertial, × array configs where the model has gimbals. Every cell = the best cost of that ENTIRE bank fitted for that candidate model, normalized per row.
</a:t>
            </a:r>
            <a:pPr indent="0" marL="0">
              <a:buNone/>
            </a:pPr>
            <a:r>
              <a:rPr lang="en-US" sz="1350" b="1" dirty="0">
                <a:solidFill>
                  <a:srgbClr val="C3C2B7"/>
                </a:solidFill>
              </a:rPr>
              <a:t>No null cells: </a:t>
            </a:r>
            <a:pPr indent="0" marL="0">
              <a:buNone/>
            </a:pPr>
            <a:r>
              <a:rPr lang="en-US" sz="1350" dirty="0">
                <a:solidFill>
                  <a:srgbClr val="C3C2B7"/>
                </a:solidFill>
              </a:rPr>
              <a:t>the fitted families always produce a best-effort attitude, so impostors get finite-but-poor costs, and odd pairings (a knife-edge ISS) simply lose and never win a row.
</a:t>
            </a:r>
            <a:pPr indent="0" marL="0">
              <a:buNone/>
            </a:pPr>
            <a:r>
              <a:rPr lang="en-US" sz="1350" b="1" dirty="0">
                <a:solidFill>
                  <a:srgbClr val="1BAF7A"/>
                </a:solidFill>
              </a:rPr>
              <a:t>20/21 correct, </a:t>
            </a:r>
            <a:pPr indent="0" marL="0">
              <a:buNone/>
            </a:pPr>
            <a:r>
              <a:rPr lang="en-US" sz="1350" dirty="0">
                <a:solidFill>
                  <a:srgbClr val="C3C2B7"/>
                </a:solidFill>
              </a:rPr>
              <a:t>including v2 mini DTC vs plain v2 mini (cost 1.09 vs 2.64 — a half-bus-length antenna is photometrically detectable) and arrays-tracking vs frozen. The one miss (tumbling ISS → “Hubble”) fits nothing well — best cost ~29 where real matches score ~1 — so a fielded system reports “no confident match”.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RESULTS — DEVIATION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Does reality match the catalog?</a:t>
            </a:r>
            <a:endParaRPr lang="en-US" sz="3000" dirty="0"/>
          </a:p>
        </p:txBody>
      </p:sp>
      <p:pic>
        <p:nvPicPr>
          <p:cNvPr id="4" name="Image 0" descr="/home/user/photometry/results/charts/09_residual_eg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11201400" cy="2880360"/>
          </a:xfrm>
          <a:prstGeom prst="rect">
            <a:avLst/>
          </a:prstGeom>
        </p:spPr>
      </p:pic>
      <p:pic>
        <p:nvPicPr>
          <p:cNvPr id="5" name="Image 1" descr="/home/user/photometry/results/charts/11_deviation_sc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4389120"/>
            <a:ext cx="667512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06640" y="457200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55181"/>
                </a:solidFill>
              </a:rPr>
              <a:t>Signed residual EGI </a:t>
            </a:r>
            <a:pPr indent="0" marL="0">
              <a:buNone/>
            </a:pPr>
            <a:r>
              <a:rPr lang="en-US" sz="1250" dirty="0">
                <a:solidFill>
                  <a:srgbClr val="C3C2B7"/>
                </a:solidFill>
              </a:rPr>
              <a:t>on top of the matched model: a missing antenna shows up as +0.55 m² of localized area at the right normal (middle panel); correct models leave noise.
</a:t>
            </a:r>
            <a:pPr indent="0" marL="0">
              <a:buNone/>
            </a:pPr>
            <a:r>
              <a:rPr lang="en-US" sz="1250" b="1" dirty="0">
                <a:solidFill>
                  <a:srgbClr val="1BAF7A"/>
                </a:solidFill>
              </a:rPr>
              <a:t>Fleet alert scan: 20/21 </a:t>
            </a:r>
            <a:pPr indent="0" marL="0">
              <a:buNone/>
            </a:pPr>
            <a:r>
              <a:rPr lang="en-US" sz="1250" dirty="0">
                <a:solidFill>
                  <a:srgbClr val="C3C2B7"/>
                </a:solidFill>
              </a:rPr>
              <a:t>decisions correct. The one flag is arguably a true positive — the identified attitude genuinely cannot explain Hubble's frozen arrays sweeping with the real rotation.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RESULTS — HARD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Saturation censoring and multi-axis tumbles</a:t>
            </a:r>
            <a:endParaRPr lang="en-US" sz="3000" dirty="0"/>
          </a:p>
        </p:txBody>
      </p:sp>
      <p:pic>
        <p:nvPicPr>
          <p:cNvPr id="4" name="Image 0" descr="/home/user/photometry/results/charts/10_torquef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6492240" cy="2834640"/>
          </a:xfrm>
          <a:prstGeom prst="rect">
            <a:avLst/>
          </a:prstGeom>
        </p:spPr>
      </p:pic>
      <p:pic>
        <p:nvPicPr>
          <p:cNvPr id="5" name="Image 1" descr="/home/user/photometry/results/deck_stills/deck_iss__tumb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4434840"/>
            <a:ext cx="3931920" cy="2148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583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</a:rPr>
              <a:t>The one misidentification, visibly wrong: a tiny Hubble tube inside the real ISS — flagged by its outlier cost.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7315200" y="1600200"/>
            <a:ext cx="4389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5926"/>
                </a:solidFill>
              </a:rPr>
              <a:t>Censoring: </a:t>
            </a:r>
            <a:pPr indent="0" marL="0">
              <a:buNone/>
            </a:pPr>
            <a:r>
              <a:rPr lang="en-US" sz="1300" dirty="0">
                <a:solidFill>
                  <a:srgbClr val="C3C2B7"/>
                </a:solidFill>
              </a:rPr>
              <a:t>an ISS saturates the trackers on its bright spin phases — exactly the samples that carry the spin. One-sided “brighter-than-cap” terms restore size information (truth-attitude ISS fits at 0.18 vs 8.8+ for impostors); the global attitude search under 80% censoring is the open piece.
</a:t>
            </a:r>
            <a:pPr indent="0" marL="0">
              <a:buNone/>
            </a:pPr>
            <a:r>
              <a:rPr lang="en-US" sz="1300" b="1" dirty="0">
                <a:solidFill>
                  <a:srgbClr val="D55181"/>
                </a:solidFill>
              </a:rPr>
              <a:t>Multi-axis tumble: </a:t>
            </a:r>
            <a:pPr indent="0" marL="0">
              <a:buNone/>
            </a:pPr>
            <a:r>
              <a:rPr lang="en-US" sz="1300" dirty="0">
                <a:solidFill>
                  <a:srgbClr val="C3C2B7"/>
                </a:solidFill>
              </a:rPr>
              <a:t>torque-free dynamics halve the attitude error vs the best uniform-spin fit (97.8° → 50.7° in-window; 56.0° over a 4 h prediction), recovering the dominant rate component to 4%. Full convergence needs a stronger global optimizer — the machinery is verified (truth scores 1.04 through the exact fit path).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RESULTS — GLINT GEOMETRY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Wahba's problem: attitude waypoints from specular events</a:t>
            </a:r>
            <a:endParaRPr lang="en-US" sz="3000" dirty="0"/>
          </a:p>
        </p:txBody>
      </p:sp>
      <p:pic>
        <p:nvPicPr>
          <p:cNvPr id="4" name="Image 0" descr="/home/user/photometry/results/charts/14_glint_wahb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740664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2440" y="1554480"/>
            <a:ext cx="3657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</a:rPr>
              <a:t>A glint is the one moment photometry yields a direction: </a:t>
            </a:r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</a:rPr>
              <a:t>the phase-angle bisector (known in ECI) coincides with a facet normal (known in the body frame). Each confirmed glint is a matched vector pair — the input to Wahba's problem — and Davenport's q-method turns a window of pairs into an absolute attitude fix.
</a:t>
            </a:r>
            <a:pPr indent="0" marL="0">
              <a:buNone/>
            </a:pPr>
            <a:r>
              <a:rPr lang="en-US" sz="1200" b="1" dirty="0">
                <a:solidFill>
                  <a:srgbClr val="C3C2B7"/>
                </a:solidFill>
              </a:rPr>
              <a:t>Detector: </a:t>
            </a:r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</a:rPr>
              <a:t>brightness vs the fleet median at the same rotational phase (cancels the spin modulation); geometric gating assigns the facet and lifts pair purity to ~100%.
</a:t>
            </a:r>
            <a:pPr indent="0" marL="0">
              <a:buNone/>
            </a:pPr>
            <a:r>
              <a:rPr lang="en-US" sz="1200" b="1" dirty="0">
                <a:solidFill>
                  <a:srgbClr val="1BAF7A"/>
                </a:solidFill>
              </a:rPr>
              <a:t>Waypoints at 2.9° </a:t>
            </a:r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</a:rPr>
              <a:t>(LINK tumble). Correct correspondences resolve the v1.5 symmetry twin scalar photometry cannot (5.5° vs 86°).
</a:t>
            </a:r>
            <a:pPr indent="0" marL="0">
              <a:buNone/>
            </a:pPr>
            <a:r>
              <a:rPr lang="en-US" sz="1200" b="1" dirty="0">
                <a:solidFill>
                  <a:srgbClr val="D55181"/>
                </a:solidFill>
              </a:rPr>
              <a:t>25 waypoints @ 3.4° </a:t>
            </a:r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</a:rPr>
              <a:t>live in the torque-free arc under oracle gating vs 7 pairs under the current coarse hypothesis — the iterate-refine headroom that will seed the Tier-3 dynamics fit.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RESULTS — CATALOG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209 models: identity becomes class + configuration</a:t>
            </a:r>
            <a:endParaRPr lang="en-US" sz="3000" dirty="0"/>
          </a:p>
        </p:txBody>
      </p:sp>
      <p:pic>
        <p:nvPicPr>
          <p:cNvPr id="4" name="Image 0" descr="/home/user/photometry/results/charts/15_library_sca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11201400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572000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C2B7"/>
                </a:solidFill>
              </a:rPr>
              <a:t>24 sampled targets (11 families, 38 countries, mixed modes, two with off-pointed arrays), 3 h arcs, full funnel: feature gate (ms) → two-channel shortlist (~2 s) → matcher (~3 min).
</a:t>
            </a:r>
            <a:pPr indent="0" marL="0">
              <a:buNone/>
            </a:pPr>
            <a:r>
              <a:rPr lang="en-US" sz="1250" b="1" dirty="0">
                <a:solidFill>
                  <a:srgbClr val="D95926"/>
                </a:solidFill>
              </a:rPr>
              <a:t>Exact identity 29% · family/class 71%. </a:t>
            </a:r>
            <a:pPr indent="0" marL="0">
              <a:buNone/>
            </a:pPr>
            <a:r>
              <a:rPr lang="en-US" sz="1250" dirty="0">
                <a:solidFill>
                  <a:srgbClr val="C3C2B7"/>
                </a:solidFill>
              </a:rPr>
              <a:t>10 of 17 misses picked a same-family photometric twin fitting within 1.2× of truth — the serial number is not in the data once the catalog holds look-alikes; class, size, and configuration are.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537960" y="4572000"/>
            <a:ext cx="5166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AF7A"/>
                </a:solidFill>
              </a:rPr>
              <a:t>Self-assessment survives scale: </a:t>
            </a:r>
            <a:pPr indent="0" marL="0">
              <a:buNone/>
            </a:pPr>
            <a:r>
              <a:rPr lang="en-US" sz="1250" dirty="0">
                <a:solidFill>
                  <a:srgbClr val="C3C2B7"/>
                </a:solidFill>
              </a:rPr>
              <a:t>every correct ID fits at cost ≤ 1.0; 13/17 wrong ones flag themselves (cost 1.05–25 or shortlist cut). The confident-but-wrong residue is exactly the twin set.
</a:t>
            </a:r>
            <a:pPr indent="0" marL="0">
              <a:buNone/>
            </a:pPr>
            <a:r>
              <a:rPr lang="en-US" sz="1250" b="1" dirty="0">
                <a:solidFill>
                  <a:srgbClr val="C98500"/>
                </a:solidFill>
              </a:rPr>
              <a:t>Operational product: </a:t>
            </a:r>
            <a:pPr indent="0" marL="0">
              <a:buNone/>
            </a:pPr>
            <a:r>
              <a:rPr lang="en-US" sz="1250" dirty="0">
                <a:solidFill>
                  <a:srgbClr val="C3C2B7"/>
                </a:solidFill>
              </a:rPr>
              <a:t>the ranked shortlist with margins — “one of these three 3U cubesats, ops attitude, arrays tracking” — plus orbit-catalog correlation as the free tie-breaker.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RESULTS — OBSERVABILITY TRADE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many observers before the tomography turns on?</a:t>
            </a:r>
            <a:endParaRPr lang="en-US" sz="3000" dirty="0"/>
          </a:p>
        </p:txBody>
      </p:sp>
      <p:pic>
        <p:nvPicPr>
          <p:cNvPr id="4" name="Image 0" descr="/home/user/photometry/results/charts/17_observability_tra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763524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554480"/>
            <a:ext cx="34290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A smaller constellation is an observer-ID subsample of the full-fleet run — same shell, same chain, N of 10,000 IDs kept.
</a:t>
            </a:r>
            <a:pPr indent="0" marL="0">
              <a:buNone/>
            </a:pPr>
            <a:r>
              <a:rPr lang="en-US" sz="1150" b="1" dirty="0">
                <a:solidFill>
                  <a:srgbClr val="D95926"/>
                </a:solidFill>
              </a:rPr>
              <a:t>The answer is a phase transition at N ≈ 300–1,000: </a:t>
            </a:r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period recovery 0/3 seeds at 300, 3/3 at 1,000 — and the instant it locks, pole error collapses 85° → 0.1° and EGI jumps to 55–89%, both already at full-fleet quality.
</a:t>
            </a:r>
            <a:pPr indent="0" marL="0">
              <a:buNone/>
            </a:pPr>
            <a:r>
              <a:rPr lang="en-US" sz="1150" b="1" dirty="0">
                <a:solidFill>
                  <a:srgbClr val="3987E5"/>
                </a:solidFill>
              </a:rPr>
              <a:t>Binding resource: sampling density, not geometry. </a:t>
            </a:r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Directional coverage saturates (~50%, sun-capped at 56%) before period success climbs. And there is no single-observer regime: 1 satellite ≈ 0–3 detections/day.
</a:t>
            </a:r>
            <a:pPr indent="0" marL="0">
              <a:buNone/>
            </a:pPr>
            <a:r>
              <a:rPr lang="en-US" sz="1150" b="1" dirty="0">
                <a:solidFill>
                  <a:srgbClr val="D55181"/>
                </a:solidFill>
              </a:rPr>
              <a:t>What still scales at 10k: </a:t>
            </a:r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</a:rPr>
              <a:t>Wahba vector pairs (0 → 4 → 12 → 37/day) — the glint channel earns the full fleet after every scalar metric saturates.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RESULTS — MANEUVER SLEWS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Pre-burn 90/180° yaw-arounds: detect always, characterize by symmetry</a:t>
            </a:r>
            <a:endParaRPr lang="en-US" sz="3000" dirty="0"/>
          </a:p>
        </p:txBody>
      </p:sp>
      <p:pic>
        <p:nvPicPr>
          <p:cNvPr id="4" name="Image 0" descr="/home/user/photometry/results/charts/18_slew_detectabil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731520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1508760"/>
            <a:ext cx="3749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</a:rPr>
              <a:t>6 min yaw-out, 15 min burn hold, 6 min return — 4 craft × {90°, 180°} + controls.
</a:t>
            </a:r>
            <a:pPr indent="0" marL="0">
              <a:buNone/>
            </a:pPr>
            <a:r>
              <a:rPr lang="en-US" sz="1100" b="1" dirty="0">
                <a:solidFill>
                  <a:srgbClr val="1BAF7A"/>
                </a:solidFill>
              </a:rPr>
              <a:t>Detection: 8/8 at robust-z 281–1204, latency ≤ 60 s, controls ≤ 4.1, zero false alarms. </a:t>
            </a:r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</a:rPr>
              <a:t>Even the 2-axis-array flat-sat is loud: panel backs and bus edges swing even when the cells stay sun-locked.
</a:t>
            </a:r>
            <a:pPr indent="0" marL="0">
              <a:buNone/>
            </a:pPr>
            <a:r>
              <a:rPr lang="en-US" sz="1100" b="1" dirty="0">
                <a:solidFill>
                  <a:srgbClr val="3987E5"/>
                </a:solidFill>
              </a:rPr>
              <a:t>90° holds: fully characterized </a:t>
            </a:r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</a:rPr>
              <a:t>— hold yaw to 0.1–0.2°, slew start ±0.5–2 min; durations softer (shallow smoothstep tails).
</a:t>
            </a:r>
            <a:pPr indent="0" marL="0">
              <a:buNone/>
            </a:pPr>
            <a:r>
              <a:rPr lang="en-US" sz="1100" b="1" dirty="0">
                <a:solidFill>
                  <a:srgbClr val="D95926"/>
                </a:solidFill>
              </a:rPr>
              <a:t>180° holds are invisible </a:t>
            </a:r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</a:rPr>
              <a:t>on mirror-symmetric buses — residual returns to baseline mid-burn; the two transients carry everything. Both seen → burn bracketed to ~1 min (Persona: −7 s); fit interpolating a flat basin can slide (v2 mini: +18 min).
</a:t>
            </a:r>
            <a:pPr indent="0" marL="0">
              <a:buNone/>
            </a:pPr>
            <a:r>
              <a:rPr lang="en-US" sz="1100" b="1" dirty="0">
                <a:solidFill>
                  <a:srgbClr val="C98500"/>
                </a:solidFill>
              </a:rPr>
              <a:t>Product ordering: </a:t>
            </a:r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</a:rPr>
              <a:t>windowed z + yaw track is the robust detector; the parametric slew fit is the refinement.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RESULTS — A LEARNED PROPOSER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Neural net: proposes in milliseconds, physics verifies — an honest negative so far</a:t>
            </a:r>
            <a:endParaRPr lang="en-US" sz="3000" dirty="0"/>
          </a:p>
        </p:txBody>
      </p:sp>
      <p:pic>
        <p:nvPicPr>
          <p:cNvPr id="4" name="Image 0" descr="/home/user/photometry/results/charts/19_spin_n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731520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1508760"/>
            <a:ext cx="3749040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987E5"/>
                </a:solidFill>
              </a:rPr>
              <a:t>Where a net could earn its keep: </a:t>
            </a:r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every open problem was a search failure, never an information failure. Set transformer over detection tokens (0.5 M params), trained on a geometry-pool label factory (ms per exact-label example), proposals polished by the SAME forward-model cost the grid uses.
</a:t>
            </a:r>
            <a:pPr indent="0" marL="0">
              <a:buNone/>
            </a:pPr>
            <a:r>
              <a:rPr lang="en-US" sz="1050" b="1" dirty="0">
                <a:solidFill>
                  <a:srgbClr val="D95926"/>
                </a:solidFill>
              </a:rPr>
              <a:t>Iteration log: </a:t>
            </a:r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raw time → chance; Fourier time → chance (a shallow net must rediscover autocorrelation — the periodogram's job); phase-fold at the Tier-0 period → harmonic &amp; body-axis heads learn, pole head collapses; pole classification over the search grid → memorizes 24 examples perfectly, still chance on the stream.
</a:t>
            </a:r>
            <a:pPr indent="0" marL="0">
              <a:buNone/>
            </a:pPr>
            <a:r>
              <a:rPr lang="en-US" sz="1050" b="1" dirty="0">
                <a:solidFill>
                  <a:srgbClr val="D55181"/>
                </a:solidFill>
              </a:rPr>
              <a:t>Measured: </a:t>
            </a:r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net-seeded polish &lt; 2° on 2% of held-out windows vs 72% for the grid (1.8 s vs 9 s). The SO(3) pole is exactly the part amortization exists for, and exactly where the label signal is thinnest (only Tier-0-solvable windows carry it).
</a:t>
            </a:r>
            <a:pPr indent="0" marL="0">
              <a:buNone/>
            </a:pPr>
            <a:r>
              <a:rPr lang="en-US" sz="1050" b="1" dirty="0">
                <a:solidFill>
                  <a:srgbClr val="1BAF7A"/>
                </a:solidFill>
              </a:rPr>
              <a:t>Verdict: </a:t>
            </a:r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pipeline verified sound; data/compute-starved on CPU (~10 labeled examples per step vs a 200-way geometric classification). Kept: the label factory and the verifier discipline.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RESULTS — VALIDATION MOVIES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Watching the inversion against nav truth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20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2B7"/>
                </a:solidFill>
              </a:rPr>
              <a:t>Left: truth (blue) + model-free inversion — Minkowski solid (orange), raw EGI disks (magenta). Right: identified library model at identified attitude/articulation (green). Bottom: LVLH-plane projections. 21 animations in results/movies/ — the GIF below animates in slideshow mode.</a:t>
            </a:r>
            <a:endParaRPr lang="en-US" sz="1300" dirty="0"/>
          </a:p>
        </p:txBody>
      </p:sp>
      <p:pic>
        <p:nvPicPr>
          <p:cNvPr id="5" name="Image 0" descr="/home/user/photometry/results/movies/katalyst_link__tumble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103120"/>
            <a:ext cx="6949440" cy="4434840"/>
          </a:xfrm>
          <a:prstGeom prst="rect">
            <a:avLst/>
          </a:prstGeom>
        </p:spPr>
      </p:pic>
      <p:pic>
        <p:nvPicPr>
          <p:cNvPr id="6" name="Image 1" descr="/home/user/photometry/results/deck_stills/deck_starlink_v2mini_dtc__op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35240" y="2103120"/>
            <a:ext cx="4069080" cy="2148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35240" y="42976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</a:rPr>
              <a:t>DTC ops: truth arrays articulate toward the sun; identification correct incl. “arrays tracking”</a:t>
            </a:r>
            <a:endParaRPr lang="en-US" sz="1000" dirty="0"/>
          </a:p>
        </p:txBody>
      </p:sp>
      <p:pic>
        <p:nvPicPr>
          <p:cNvPr id="8" name="Image 2" descr="/home/user/photometry/results/deck_stills/deck_katalyst_link__multiaxis_tumbl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35240" y="4663440"/>
            <a:ext cx="4069080" cy="1828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35240" y="65288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</a:rPr>
              <a:t>LINK multi-axis tumble with the Tier-3 torque-free fit in the right panel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PATH TO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Wiring the experiment to real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20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AF7A"/>
                </a:solidFill>
              </a:rPr>
              <a:t>The seam is already built: </a:t>
            </a:r>
            <a:pPr indent="0" marL="0">
              <a:buNone/>
            </a:pPr>
            <a:r>
              <a:rPr lang="en-US" sz="1450" dirty="0">
                <a:solidFill>
                  <a:srgbClr val="C3C2B7"/>
                </a:solidFill>
              </a:rPr>
              <a:t>every algorithm consumes only the ObservationSet schema — one row per calibrated detection (time, observer, line of sight, sun, range, magnitude, sigma, bias, censored flag). Real integration = filling that table.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121408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87E5"/>
                </a:solidFill>
              </a:rPr>
              <a:t>Tracker transient streams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46120" y="2148840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Star trackers already detect non-stellar objects every frame — the star-ID rejects. The product to downlink: time, centroid + attitude → inertial LOS, streak-integrated magnitude, saturation flag.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6207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87E5"/>
                </a:solidFill>
              </a:rPr>
              <a:t>Bridge: ground photometry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46120" y="2862072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MMT-9 public light curves, commercial SDA networks, SatObs flash periods — degraded single-site geometry, but real BRDFs and noise to confront the calibration pipeline early.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547872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7530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AF7A"/>
                </a:solidFill>
              </a:rPr>
              <a:t>Orbits &amp; references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46120" y="3575304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Space-Track / operator ephemerides for association and range; Gaia DR3 G-band as the per-frame photometric zero point; DE440 sun; ILRS truth orbits for calibrators.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261104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88536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926"/>
                </a:solidFill>
              </a:rPr>
              <a:t>Calibration loop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46120" y="4288536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Run the stack on the constellation's own satellites (telemetered attitude, CAD shape) with truth held fixed — solve per-sensor biases, color terms, and BRDF materials instead. Continuous, free truth.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974336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00176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55181"/>
                </a:solidFill>
              </a:rPr>
              <a:t>Hard parts, named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46120" y="5001768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Streak photometry (trailed PSF flux) and fleet-scale association. First light: predict known targets' transits through each FOV and harvest only those windows.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5687568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71500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8500"/>
                </a:solidFill>
              </a:rPr>
              <a:t>Code adapters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46120" y="5715000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</a:rPr>
              <a:t>EphemerisOrbit wrapper for real orbits behind the LVLH hypotheses; Earthshine term in radiometry; passband refit of material coefficients; robustness knobs retuned on real residuals.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8781"/>
                </a:solidFill>
              </a:rPr>
              <a:t>Full guide: docs/real-data-integration.md — field-by-field schema mapping, reduction pipeline, worked loader skeleton.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98781"/>
                </a:solidFill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Standing findings and where to head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87E5"/>
                </a:solidFill>
              </a:rPr>
              <a:t>Altitude envelope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3794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</a:rPr>
              <a:t>+5°-canted trackers only see objects above the shell — ISS, Hubble, LINK are invisible to a 550 km shell at their real altitudes.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715768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072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926"/>
                </a:solidFill>
              </a:rPr>
              <a:t>Censoring is the tall pole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13639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</a:rPr>
              <a:t>Bright spin phases are the saturated ones: calibrated-only data shrinks objects and hides spin. The saturation timing pattern is itself signal.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014216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10565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55181"/>
                </a:solidFill>
              </a:rPr>
              <a:t>Ambiguities are structural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434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</a:rPr>
              <a:t>90° plate swaps, 180° tube flips, pole antipodes — search them explicitly, report them as posterior modes.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312664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4041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</a:rPr>
              <a:t>Articulation is information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573328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</a:rPr>
              <a:t>Arrays tracking vs frozen is directly identifiable; a pointed telescope still sun-tracks its arrays.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41732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1A1A19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8500"/>
                </a:solidFill>
              </a:rPr>
              <a:t>ROADMAP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1965960"/>
            <a:ext cx="4983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3C2B7"/>
                </a:solidFill>
              </a:rPr>
              <a:t>Glint-seeded torque-free fitting: close the iterate-refine loop (7 → 134 pairs measured headroom), fit dynamics through Wahba waypoints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3C2B7"/>
                </a:solidFill>
              </a:rPr>
              <a:t>Close the funnel gaps: third shortlist channel for inertial pointers, arc-aware fingerprints, off-pointed array hypotheses, orbit-catalog tie-breaking among twins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3C2B7"/>
                </a:solidFill>
              </a:rPr>
              <a:t>Maneuver-window change-point scanning: freeze the match, score in time bins, recurse on the bins that fail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3C2B7"/>
                </a:solidFill>
              </a:rPr>
              <a:t>Harmonic-aware censored period ladder — closes the last curated misidentification (ISS-class tumblers)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3C2B7"/>
                </a:solidFill>
              </a:rPr>
              <a:t>Per-sensor photometric bias estimation: 30k sensors, cooperative constellation targets as truth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3C2B7"/>
                </a:solidFill>
              </a:rPr>
              <a:t>Real tracklets: reduce to the ObservationSet schema and the identical stack runs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2026-09-06T23:13:07Z</dcterms:created>
  <dcterms:modified xsi:type="dcterms:W3CDTF">2026-09-06T23:13:07Z</dcterms:modified>
</cp:coreProperties>
</file>