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gif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C98500"/>
                </a:solidFill>
              </a:rPr>
              <a:t>CONSTELLATION PHOTOMETRY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698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Satellite Attitude &amp; Shape from 30,000 Star Trackers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3C2B7"/>
                </a:solidFill>
              </a:rPr>
              <a:t>Turning a 10,000-satellite fleet's star trackers into an opportunistic photometric sensor network — and inverting the aggregated visual magnitudes into spin state, convex shape, catalog identity, array configuration, and catalog deviations.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420624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4315968"/>
            <a:ext cx="2276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987E5"/>
                </a:solidFill>
              </a:rPr>
              <a:t>&lt;1 ms / 0.1°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896112" y="5010912"/>
            <a:ext cx="2276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baseline spin period / pole recovery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520440" y="420624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85032" y="4315968"/>
            <a:ext cx="2276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AF7A"/>
                </a:solidFill>
              </a:rPr>
              <a:t>20/21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685032" y="5010912"/>
            <a:ext cx="2276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attitude-mode classifications correct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309360" y="420624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3952" y="4315968"/>
            <a:ext cx="2276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95926"/>
                </a:solidFill>
              </a:rPr>
              <a:t>20/21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473952" y="5010912"/>
            <a:ext cx="2276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library identifications correct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098280" y="420624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62872" y="4315968"/>
            <a:ext cx="2276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55181"/>
                </a:solidFill>
              </a:rPr>
              <a:t>+0.55 m²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262872" y="5010912"/>
            <a:ext cx="2276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seeded missing-antenna deviation detected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31520" y="617220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8781"/>
                </a:solidFill>
              </a:rPr>
              <a:t>nikkelj/photometry  ·  PR #1  ·  simulation + inversion stack, 15 passing tests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Why a constellation beats a telescope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49377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3C2B7"/>
                </a:solidFill>
              </a:rPr>
              <a:t>One ground telescope sees one light curve — a single slowly-moving line of sight. </a:t>
            </a:r>
            <a:pPr indent="0" marL="0">
              <a:buNone/>
            </a:pPr>
            <a:r>
              <a:rPr lang="en-US" sz="1500" dirty="0">
                <a:solidFill>
                  <a:srgbClr val="898781"/>
                </a:solidFill>
              </a:rPr>
              <a:t>The classical light-curve inversion problem is ill-posed for exactly that reason.
</a:t>
            </a:r>
            <a:pPr indent="0" marL="0">
              <a:buNone/>
            </a:pPr>
            <a:r>
              <a:rPr lang="en-US" sz="1500" b="1" dirty="0">
                <a:solidFill>
                  <a:srgbClr val="3987E5"/>
                </a:solidFill>
              </a:rPr>
              <a:t>10,000 satellites × 3 star trackers, canted +5° above the local horizontal, </a:t>
            </a:r>
            <a:pPr indent="0" marL="0">
              <a:buNone/>
            </a:pPr>
            <a:r>
              <a:rPr lang="en-US" sz="1500" dirty="0">
                <a:solidFill>
                  <a:srgbClr val="C3C2B7"/>
                </a:solidFill>
              </a:rPr>
              <a:t>opportunistically detect any object above the shell thousands of times per day, from hundreds of directions at once — a tomographic sampling of the target's reflected light field.
</a:t>
            </a:r>
            <a:pPr indent="0" marL="0">
              <a:buNone/>
            </a:pPr>
            <a:r>
              <a:rPr lang="en-US" sz="1500" dirty="0">
                <a:solidFill>
                  <a:srgbClr val="C3C2B7"/>
                </a:solidFill>
              </a:rPr>
              <a:t>Each detection: time, line of sight, apparent magnitude. Range is known from multi-observer orbit determination, so every sample becomes range-normalized brightness at one (sun, observer) direction pair.</a:t>
            </a:r>
            <a:endParaRPr lang="en-US" sz="1500" dirty="0"/>
          </a:p>
        </p:txBody>
      </p:sp>
      <p:pic>
        <p:nvPicPr>
          <p:cNvPr id="5" name="Image 0" descr="/home/user/photometry/results/charts/02_coverag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600200"/>
            <a:ext cx="6035040" cy="2423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411480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98781"/>
                </a:solidFill>
              </a:rPr>
              <a:t>Observer directions in the target body frame over one day (left) and the phase-angle diversity of the aggregate (right) — coverage no single site can produce.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0" y="4892040"/>
            <a:ext cx="2926080" cy="1371600"/>
          </a:xfrm>
          <a:prstGeom prst="roundRect">
            <a:avLst>
              <a:gd name="adj" fmla="val 533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833872" y="5001768"/>
            <a:ext cx="2596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987E5"/>
                </a:solidFill>
              </a:rPr>
              <a:t>5,703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5833872" y="5696712"/>
            <a:ext cx="2596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detections, 588 observers — one 3.2 h baseline arc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778240" y="4892040"/>
            <a:ext cx="2926080" cy="1371600"/>
          </a:xfrm>
          <a:prstGeom prst="roundRect">
            <a:avLst>
              <a:gd name="adj" fmla="val 533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942832" y="5001768"/>
            <a:ext cx="2596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500"/>
                </a:solidFill>
              </a:rPr>
              <a:t>14–142°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8942832" y="5696712"/>
            <a:ext cx="2596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solar phase angle span of the same arc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The EGI — what photometry can and cannot know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548640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D95926"/>
                </a:solidFill>
              </a:rPr>
              <a:t>Extended Gaussian Image: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for every surface patch, take its outward normal direction and its reflecting area, and pile the area onto a sphere of directions. The EGI is “reflecting area per unit direction.”
</a:t>
            </a:r>
            <a:pPr indent="0" marL="0">
              <a:buNone/>
            </a:pPr>
            <a:r>
              <a:rPr lang="en-US" sz="1450" b="1" dirty="0">
                <a:solidFill>
                  <a:srgbClr val="C3C2B7"/>
                </a:solidFill>
              </a:rPr>
              <a:t>It is ALL photometry can see.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An unresolved dot's brightness is a weighted integral of oriented area — position on the body is unrecoverable. A panel mounted left of the bus and the same panel mounted right produce identical light curves.
</a:t>
            </a:r>
            <a:pPr indent="0" marL="0">
              <a:buNone/>
            </a:pPr>
            <a:r>
              <a:rPr lang="en-US" sz="1450" b="1" dirty="0">
                <a:solidFill>
                  <a:srgbClr val="C3C2B7"/>
                </a:solidFill>
              </a:rPr>
              <a:t>It is ENOUGH to get a body back.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Minkowski's theorem: a valid EGI corresponds to exactly one convex body (up to translation). We invert brightness → EGI (convex least squares), then EGI → solid (variational support-functional solve).
</a:t>
            </a:r>
            <a:pPr indent="0" marL="0">
              <a:buNone/>
            </a:pPr>
            <a:r>
              <a:rPr lang="en-US" sz="1450" b="1" dirty="0">
                <a:solidFill>
                  <a:srgbClr val="1BAF7A"/>
                </a:solidFill>
              </a:rPr>
              <a:t>vs photogrammetry: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photogrammetry triangulates point positions from resolved images. Photometry is the unresolved limit — no pixels on target, ever — so we get the direction-space dual of a surface model: oriented area, no positions.</a:t>
            </a:r>
            <a:endParaRPr lang="en-US" sz="1450" dirty="0"/>
          </a:p>
        </p:txBody>
      </p:sp>
      <p:pic>
        <p:nvPicPr>
          <p:cNvPr id="5" name="Image 0" descr="/home/user/photometry/results/charts/05_eg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0" y="1554480"/>
            <a:ext cx="5486400" cy="20116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217920" y="36118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98781"/>
                </a:solidFill>
              </a:rPr>
              <a:t>Recovered EGI vs truth for the baseline box-wing: 99% of recovered area within 15° of true facet normals.</a:t>
            </a:r>
            <a:endParaRPr lang="en-US" sz="1100" dirty="0"/>
          </a:p>
        </p:txBody>
      </p:sp>
      <p:pic>
        <p:nvPicPr>
          <p:cNvPr id="7" name="Image 1" descr="/tmp/claude-0/-home-user-photometry/a35a00cc-e12d-5190-85d8-6e649fc22fde/scratchpad/deck_katalyst_link__tumbl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4114800"/>
            <a:ext cx="5486400" cy="23317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217920" y="6400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98781"/>
                </a:solidFill>
              </a:rPr>
              <a:t>Raw EGI disks (magenta, positions deliberately exploded — they have none), the Minkowski solid (orange), truth (blue).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MODELING PROGRESSION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Truth side — making the simulated world real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44752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987E5"/>
                </a:solidFill>
              </a:rPr>
              <a:t>T1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554480" y="1444752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Sensor fleet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611880" y="1426464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Walker shell 100×100 @ 550 km/53°, three +5°-canted trackers per sat, FOV / sun exclusion / Earth-limb / eclipse. Finding: up-canted trackers only see objects ABOVE the shell.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2249424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322576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987E5"/>
                </a:solidFill>
              </a:rPr>
              <a:t>T2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554480" y="2322576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Radiometry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611880" y="2304288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Facet BRDFs — Lambert + Phong per material (MLI, solar cells, white paint, antenna). Glints carry the sharpest attitude information.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3127248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20040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AF7A"/>
                </a:solidFill>
              </a:rPr>
              <a:t>T3–T4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554480" y="32004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Targets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611880" y="318211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Generic box-wing baseline, then a 7-satellite library from open-source dimensions: Starlink v1.5 / v2 mini / v2 mini DTC, BlueWalker 3, Hubble, ISS, Katalyst LINK.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4005072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078224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AF7A"/>
                </a:solidFill>
              </a:rPr>
              <a:t>T5–T6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54480" y="4078224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Attitude &amp; articulation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611880" y="4059936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LVLH-hold ops, knife-edge low-drag, sun-point, inertial pointing, propeller tumble — plus per-facet solar-array gimbals (1-axis / 2-axis) tracking the sun.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02920" y="4882896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4956048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5926"/>
                </a:solidFill>
              </a:rPr>
              <a:t>T7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554480" y="4956048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Saturation as censoring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611880" y="4937760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Saturated streaks recorded as brighter-than-cap lower bounds, not dropped. ISS-class targets are ~80% censored.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02920" y="5760720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5833872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5926"/>
                </a:solidFill>
              </a:rPr>
              <a:t>T8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554480" y="5833872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Torque-free tumble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611880" y="5815584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Full Euler dynamics, triaxial inertia, nutating ω (energy conserved to 3e-8) — LINK's actual anomaly class.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MODELING PROGRESSION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Algorithm side — the inversion stack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89888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87E5"/>
                </a:solidFill>
              </a:rPr>
              <a:t>A1–A2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600200" y="138988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Spin state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703320" y="1389888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Arc-sized Lomb–Scargle + pole grid (sphere × phase × body spin axis) + refinement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961120" y="1389888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987E5"/>
                </a:solidFill>
              </a:rPr>
              <a:t>period sub-ms, pole 0.1°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2920" y="2029968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48256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87E5"/>
                </a:solidFill>
              </a:rPr>
              <a:t>A3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00200" y="2048256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Shape (EGI)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703320" y="2048256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Joint Lambert + specular NNLS, dead-column pruning, scale-aware ridge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961120" y="2048256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987E5"/>
                </a:solidFill>
              </a:rPr>
              <a:t>99% of area on true normals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2688336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06624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AF7A"/>
                </a:solidFill>
              </a:rPr>
              <a:t>A4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600200" y="2706624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Mode classifier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703320" y="2706624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Named operational laws + fitted spin / inertial families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961120" y="2706624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AF7A"/>
                </a:solidFill>
              </a:rPr>
              <a:t>20/21 scenarios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3346704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364992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AF7A"/>
                </a:solidFill>
              </a:rPr>
              <a:t>A5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600200" y="3364992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Minkowski solid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703320" y="3364992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Variational support-functional solve (L-BFGS-B, analytic gradient)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961120" y="3364992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AF7A"/>
                </a:solidFill>
              </a:rPr>
              <a:t>slab proportions exact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4005072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023360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5926"/>
                </a:solidFill>
              </a:rPr>
              <a:t>A6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600200" y="402336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Library ID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703320" y="4023360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Model × attitude family × array config, 0.5-mag offset prior for size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961120" y="4023360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5926"/>
                </a:solidFill>
              </a:rPr>
              <a:t>20/21 — DTC vs v2 mini separable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02920" y="4663440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4681728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5926"/>
                </a:solidFill>
              </a:rPr>
              <a:t>A7–A8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600200" y="468172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Deviation alerts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3703320" y="4681728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Symmetry-group refinement + signed residual EGI + alert criteria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961120" y="4681728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5926"/>
                </a:solidFill>
              </a:rPr>
              <a:t>20/21 decisions fleet-wide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02920" y="5321808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" y="5340096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55181"/>
                </a:solidFill>
              </a:rPr>
              <a:t>A9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600200" y="5340096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Censoring-aware costs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3703320" y="5340096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One-sided Tobit terms, stratified sampling, coherent period ladder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961120" y="5340096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55181"/>
                </a:solidFill>
              </a:rPr>
              <a:t>ISS size info restored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02920" y="5980176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5800" y="5998464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55181"/>
                </a:solidFill>
              </a:rPr>
              <a:t>A10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600200" y="5998464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Torque-free fit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3703320" y="5998464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Window-laddered multi-start over inertia + rate + attitude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961120" y="5998464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55181"/>
                </a:solidFill>
              </a:rPr>
              <a:t>attitude error halved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BASELINE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Tumbling box-wing, one 3.2-hour arc</a:t>
            </a:r>
            <a:endParaRPr lang="en-US" sz="3000" dirty="0"/>
          </a:p>
        </p:txBody>
      </p:sp>
      <p:pic>
        <p:nvPicPr>
          <p:cNvPr id="4" name="Image 0" descr="/home/user/photometry/results/charts/00_summary_til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417320"/>
            <a:ext cx="11201400" cy="1874520"/>
          </a:xfrm>
          <a:prstGeom prst="rect">
            <a:avLst/>
          </a:prstGeom>
        </p:spPr>
      </p:pic>
      <p:pic>
        <p:nvPicPr>
          <p:cNvPr id="5" name="Image 1" descr="/home/user/photometry/results/charts/01_lightc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3429000"/>
            <a:ext cx="5852160" cy="3108960"/>
          </a:xfrm>
          <a:prstGeom prst="rect">
            <a:avLst/>
          </a:prstGeom>
        </p:spPr>
      </p:pic>
      <p:pic>
        <p:nvPicPr>
          <p:cNvPr id="6" name="Image 2" descr="/home/user/photometry/results/charts/03_periodogram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537960" y="3429000"/>
            <a:ext cx="5166360" cy="228600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6537960" y="5806440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8781"/>
                </a:solidFill>
              </a:rPr>
              <a:t>Every point in the light curve is a different star tracker. The multi-observer periodogram peak is razor sharp — the alias structure that plagues single-site light curves is gone.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BASELINE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Spin pole and shape from magnitudes alone</a:t>
            </a:r>
            <a:endParaRPr lang="en-US" sz="3000" dirty="0"/>
          </a:p>
        </p:txBody>
      </p:sp>
      <p:pic>
        <p:nvPicPr>
          <p:cNvPr id="4" name="Image 0" descr="/home/user/photometry/results/charts/04_pole_searc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463040"/>
            <a:ext cx="5577840" cy="3200400"/>
          </a:xfrm>
          <a:prstGeom prst="rect">
            <a:avLst/>
          </a:prstGeom>
        </p:spPr>
      </p:pic>
      <p:pic>
        <p:nvPicPr>
          <p:cNvPr id="5" name="Image 1" descr="/home/user/photometry/results/charts/05_egi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4709160"/>
            <a:ext cx="7680960" cy="19202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00800" y="1554480"/>
            <a:ext cx="5303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3987E5"/>
                </a:solidFill>
              </a:rPr>
              <a:t>Pole search: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global grid over the celestial sphere; the antipodal twin is the spin-axis sign ambiguity, carried explicitly.
</a:t>
            </a:r>
            <a:pPr indent="0" marL="0">
              <a:buNone/>
            </a:pPr>
            <a:r>
              <a:rPr lang="en-US" sz="1450" b="1" dirty="0">
                <a:solidFill>
                  <a:srgbClr val="D95926"/>
                </a:solidFill>
              </a:rPr>
              <a:t>EGI recovery: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the anti-sunward facet is never illuminated during the arc and is correctly reported unobservable — the algorithm knows what it cannot know.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FLEET STUDY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21 scenarios × 24 hours: mode classification</a:t>
            </a:r>
            <a:endParaRPr lang="en-US" sz="3000" dirty="0"/>
          </a:p>
        </p:txBody>
      </p:sp>
      <p:pic>
        <p:nvPicPr>
          <p:cNvPr id="4" name="Image 0" descr="/home/user/photometry/results/charts/06_fleet_mod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371600"/>
            <a:ext cx="5532120" cy="5212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0" y="155448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Seven satellites × their operational modes, each simulated for a day and classified against a bank of attitude hypotheses.
</a:t>
            </a:r>
            <a:pPr indent="0" marL="0">
              <a:buNone/>
            </a:pPr>
            <a:r>
              <a:rPr lang="en-US" sz="1450" b="1" dirty="0">
                <a:solidFill>
                  <a:srgbClr val="1BAF7A"/>
                </a:solidFill>
              </a:rPr>
              <a:t>20/21 correct.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The single miss is physics, not software: Hubble tumbling about its own cylinder axis is photometrically near-static — an axisymmetric body's rotation about its symmetry axis is unobservable.
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Sun-tracking arrays are not body-fixed: ops-mode shape recovery correctly returns the bus + fixed antennas only, with the array's area appearing at the sun direction in the body frame.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IDENTIFICATION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Which catalog object is this, in what state?</a:t>
            </a:r>
            <a:endParaRPr lang="en-US" sz="3000" dirty="0"/>
          </a:p>
        </p:txBody>
      </p:sp>
      <p:pic>
        <p:nvPicPr>
          <p:cNvPr id="4" name="Image 0" descr="/home/user/photometry/results/charts/08_model_matc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371600"/>
            <a:ext cx="5120640" cy="5257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89320" y="1554480"/>
            <a:ext cx="571500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95926"/>
                </a:solidFill>
              </a:rPr>
              <a:t>How to read the grid: </a:t>
            </a:r>
            <a:pPr indent="0" marL="0">
              <a:buNone/>
            </a:pPr>
            <a:r>
              <a:rPr lang="en-US" sz="1350" dirty="0">
                <a:solidFill>
                  <a:srgbClr val="C3C2B7"/>
                </a:solidFill>
              </a:rPr>
              <a:t>the attitude bank is spacecraft-agnostic — LVLH-hold, knife-edge, sun-point, fitted spin, fitted inertial, × array configs where the model has gimbals. Every cell = the best cost of that ENTIRE bank fitted for that candidate model, normalized per row.
</a:t>
            </a:r>
            <a:pPr indent="0" marL="0">
              <a:buNone/>
            </a:pPr>
            <a:r>
              <a:rPr lang="en-US" sz="1350" b="1" dirty="0">
                <a:solidFill>
                  <a:srgbClr val="C3C2B7"/>
                </a:solidFill>
              </a:rPr>
              <a:t>No null cells: </a:t>
            </a:r>
            <a:pPr indent="0" marL="0">
              <a:buNone/>
            </a:pPr>
            <a:r>
              <a:rPr lang="en-US" sz="1350" dirty="0">
                <a:solidFill>
                  <a:srgbClr val="C3C2B7"/>
                </a:solidFill>
              </a:rPr>
              <a:t>the fitted families always produce a best-effort attitude, so impostors get finite-but-poor costs, and odd pairings (a knife-edge ISS) simply lose and never win a row.
</a:t>
            </a:r>
            <a:pPr indent="0" marL="0">
              <a:buNone/>
            </a:pPr>
            <a:r>
              <a:rPr lang="en-US" sz="1350" b="1" dirty="0">
                <a:solidFill>
                  <a:srgbClr val="1BAF7A"/>
                </a:solidFill>
              </a:rPr>
              <a:t>20/21 correct, </a:t>
            </a:r>
            <a:pPr indent="0" marL="0">
              <a:buNone/>
            </a:pPr>
            <a:r>
              <a:rPr lang="en-US" sz="1350" dirty="0">
                <a:solidFill>
                  <a:srgbClr val="C3C2B7"/>
                </a:solidFill>
              </a:rPr>
              <a:t>including v2 mini DTC vs plain v2 mini (cost 1.09 vs 2.64 — a half-bus-length antenna is photometrically detectable) and arrays-tracking vs frozen. The one miss (tumbling ISS → “Hubble”) fits nothing well — best cost ~29 where real matches score ~1 — so a fielded system reports “no confident match”.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DEVIATION DETECTION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Does reality match the catalog?</a:t>
            </a:r>
            <a:endParaRPr lang="en-US" sz="3000" dirty="0"/>
          </a:p>
        </p:txBody>
      </p:sp>
      <p:pic>
        <p:nvPicPr>
          <p:cNvPr id="4" name="Image 0" descr="/home/user/photometry/results/charts/09_residual_eg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371600"/>
            <a:ext cx="11201400" cy="2880360"/>
          </a:xfrm>
          <a:prstGeom prst="rect">
            <a:avLst/>
          </a:prstGeom>
        </p:spPr>
      </p:pic>
      <p:pic>
        <p:nvPicPr>
          <p:cNvPr id="5" name="Image 1" descr="/home/user/photometry/results/charts/11_deviation_sca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4389120"/>
            <a:ext cx="6675120" cy="22860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406640" y="4572000"/>
            <a:ext cx="4297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D55181"/>
                </a:solidFill>
              </a:rPr>
              <a:t>Signed residual EGI </a:t>
            </a:r>
            <a:pPr indent="0" marL="0">
              <a:buNone/>
            </a:pPr>
            <a:r>
              <a:rPr lang="en-US" sz="1250" dirty="0">
                <a:solidFill>
                  <a:srgbClr val="C3C2B7"/>
                </a:solidFill>
              </a:rPr>
              <a:t>on top of the matched model: a missing antenna shows up as +0.55 m² of localized area at the right normal (middle panel); correct models leave noise.
</a:t>
            </a:r>
            <a:pPr indent="0" marL="0">
              <a:buNone/>
            </a:pPr>
            <a:r>
              <a:rPr lang="en-US" sz="1250" b="1" dirty="0">
                <a:solidFill>
                  <a:srgbClr val="1BAF7A"/>
                </a:solidFill>
              </a:rPr>
              <a:t>Fleet alert scan: 20/21 </a:t>
            </a:r>
            <a:pPr indent="0" marL="0">
              <a:buNone/>
            </a:pPr>
            <a:r>
              <a:rPr lang="en-US" sz="1250" dirty="0">
                <a:solidFill>
                  <a:srgbClr val="C3C2B7"/>
                </a:solidFill>
              </a:rPr>
              <a:t>decisions correct. The one flag is arguably a true positive — the identified attitude genuinely cannot explain Hubble's frozen arrays sweeping with the real rotation.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HARD CASES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Saturation censoring and multi-axis tumbles</a:t>
            </a:r>
            <a:endParaRPr lang="en-US" sz="3000" dirty="0"/>
          </a:p>
        </p:txBody>
      </p:sp>
      <p:pic>
        <p:nvPicPr>
          <p:cNvPr id="4" name="Image 0" descr="/home/user/photometry/results/charts/10_torquefre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417320"/>
            <a:ext cx="6492240" cy="2834640"/>
          </a:xfrm>
          <a:prstGeom prst="rect">
            <a:avLst/>
          </a:prstGeom>
        </p:spPr>
      </p:pic>
      <p:pic>
        <p:nvPicPr>
          <p:cNvPr id="5" name="Image 1" descr="/tmp/claude-0/-home-user-photometry/a35a00cc-e12d-5190-85d8-6e649fc22fde/scratchpad/deck_iss__tumbl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4434840"/>
            <a:ext cx="3931920" cy="21488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02920" y="65836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8781"/>
                </a:solidFill>
              </a:rPr>
              <a:t>The one misidentification, visibly wrong: a tiny Hubble tube inside the real ISS — flagged by its outlier cost.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7315200" y="1600200"/>
            <a:ext cx="438912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95926"/>
                </a:solidFill>
              </a:rPr>
              <a:t>Censoring: </a:t>
            </a:r>
            <a:pPr indent="0" marL="0">
              <a:buNone/>
            </a:pPr>
            <a:r>
              <a:rPr lang="en-US" sz="1300" dirty="0">
                <a:solidFill>
                  <a:srgbClr val="C3C2B7"/>
                </a:solidFill>
              </a:rPr>
              <a:t>an ISS saturates the trackers on its bright spin phases — exactly the samples that carry the spin. One-sided “brighter-than-cap” terms restore size information (truth-attitude ISS fits at 0.18 vs 8.8+ for impostors); the global attitude search under 80% censoring is the open piece.
</a:t>
            </a:r>
            <a:pPr indent="0" marL="0">
              <a:buNone/>
            </a:pPr>
            <a:r>
              <a:rPr lang="en-US" sz="1300" b="1" dirty="0">
                <a:solidFill>
                  <a:srgbClr val="D55181"/>
                </a:solidFill>
              </a:rPr>
              <a:t>Multi-axis tumble: </a:t>
            </a:r>
            <a:pPr indent="0" marL="0">
              <a:buNone/>
            </a:pPr>
            <a:r>
              <a:rPr lang="en-US" sz="1300" dirty="0">
                <a:solidFill>
                  <a:srgbClr val="C3C2B7"/>
                </a:solidFill>
              </a:rPr>
              <a:t>torque-free dynamics halve the attitude error vs the best uniform-spin fit (97.8° → 50.7° in-window; 56.0° over a 4 h prediction), recovering the dominant rate component to 4%. Full convergence needs a stronger global optimizer — the machinery is verified (truth scores 1.04 through the exact fit path).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VALIDATION MOVIES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Watching the inversion against nav truth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11201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2B7"/>
                </a:solidFill>
              </a:rPr>
              <a:t>Left: truth (blue) + model-free inversion — Minkowski solid (orange), raw EGI disks (magenta). Right: identified library model at identified attitude/articulation (green). Bottom: LVLH-plane projections. 21 animations in results/movies/ — the GIF below animates in slideshow mode.</a:t>
            </a:r>
            <a:endParaRPr lang="en-US" sz="1300" dirty="0"/>
          </a:p>
        </p:txBody>
      </p:sp>
      <p:pic>
        <p:nvPicPr>
          <p:cNvPr id="5" name="Image 0" descr="/home/user/photometry/results/movies/katalyst_link__tumble.gif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2103120"/>
            <a:ext cx="6949440" cy="4434840"/>
          </a:xfrm>
          <a:prstGeom prst="rect">
            <a:avLst/>
          </a:prstGeom>
        </p:spPr>
      </p:pic>
      <p:pic>
        <p:nvPicPr>
          <p:cNvPr id="6" name="Image 1" descr="/tmp/claude-0/-home-user-photometry/a35a00cc-e12d-5190-85d8-6e649fc22fde/scratchpad/deck_starlink_v2mini_dtc__op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635240" y="2103120"/>
            <a:ext cx="4069080" cy="21488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635240" y="429768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8781"/>
                </a:solidFill>
              </a:rPr>
              <a:t>DTC ops: truth arrays articulate toward the sun; identification correct incl. “arrays tracking”</a:t>
            </a:r>
            <a:endParaRPr lang="en-US" sz="1000" dirty="0"/>
          </a:p>
        </p:txBody>
      </p:sp>
      <p:pic>
        <p:nvPicPr>
          <p:cNvPr id="8" name="Image 2" descr="/tmp/claude-0/-home-user-photometry/a35a00cc-e12d-5190-85d8-6e649fc22fde/scratchpad/deck_katalyst_link__multiaxis_tumb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635240" y="4663440"/>
            <a:ext cx="4069080" cy="18288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635240" y="652881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8781"/>
                </a:solidFill>
              </a:rPr>
              <a:t>LINK multi-axis tumble with the Tier-3 torque-free fit in the right panel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SYNTHESIS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Standing findings and where to head next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486400" cy="1170432"/>
          </a:xfrm>
          <a:prstGeom prst="roundRect">
            <a:avLst>
              <a:gd name="adj" fmla="val 6250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087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987E5"/>
                </a:solidFill>
              </a:rPr>
              <a:t>Altitude envelope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837944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C2B7"/>
                </a:solidFill>
              </a:rPr>
              <a:t>+5°-canted trackers only see objects above the shell — ISS, Hubble, LINK are invisible to a 550 km shell at their real altitudes.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715768"/>
            <a:ext cx="5486400" cy="1170432"/>
          </a:xfrm>
          <a:prstGeom prst="roundRect">
            <a:avLst>
              <a:gd name="adj" fmla="val 6250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80720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5926"/>
                </a:solidFill>
              </a:rPr>
              <a:t>Censoring is the tall pole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313639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C2B7"/>
                </a:solidFill>
              </a:rPr>
              <a:t>Bright spin phases are the saturated ones: calibrated-only data shrinks objects and hides spin. The saturation timing pattern is itself signal.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4014216"/>
            <a:ext cx="5486400" cy="1170432"/>
          </a:xfrm>
          <a:prstGeom prst="roundRect">
            <a:avLst>
              <a:gd name="adj" fmla="val 6250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4105656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55181"/>
                </a:solidFill>
              </a:rPr>
              <a:t>Ambiguities are structural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5800" y="443484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C2B7"/>
                </a:solidFill>
              </a:rPr>
              <a:t>90° plate swaps, 180° tube flips, pole antipodes — search them explicitly, report them as posterior modes.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5312664"/>
            <a:ext cx="5486400" cy="1170432"/>
          </a:xfrm>
          <a:prstGeom prst="roundRect">
            <a:avLst>
              <a:gd name="adj" fmla="val 6250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540410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AF7A"/>
                </a:solidFill>
              </a:rPr>
              <a:t>Articulation is information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5733288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C2B7"/>
                </a:solidFill>
              </a:rPr>
              <a:t>Arrays tracking vs frozen is directly identifiable; a pointed telescope still sun-tracks its arrays.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63640" y="1417320"/>
            <a:ext cx="5440680" cy="5074920"/>
          </a:xfrm>
          <a:prstGeom prst="roundRect">
            <a:avLst>
              <a:gd name="adj" fmla="val 1441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16002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8500"/>
                </a:solidFill>
              </a:rPr>
              <a:t>ROADMAP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92240" y="1965960"/>
            <a:ext cx="49834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3C2B7"/>
                </a:solidFill>
              </a:rPr>
              <a:t>Global torque-free search: CMA-ES or differentiable-dynamics gradients (truth verifies at cost 1.04 — the basin exists)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3C2B7"/>
                </a:solidFill>
              </a:rPr>
              <a:t>Harmonic-aware censored period ladder — closes the last misidentification (ISS-class tumblers)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3C2B7"/>
                </a:solidFill>
              </a:rPr>
              <a:t>Per-sensor photometric bias estimation: 30k sensors, cooperative constellation targets as truth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3C2B7"/>
                </a:solidFill>
              </a:rPr>
              <a:t>Non-convex shape cues from high-phase-angle shadowing (EGI bounds only the convex hull)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3C2B7"/>
                </a:solidFill>
              </a:rPr>
              <a:t>Real tracklets: reduce to the ObservationSet schema and the identical stack runs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2026-08-04T17:00:09Z</dcterms:created>
  <dcterms:modified xsi:type="dcterms:W3CDTF">2026-08-04T17:00:09Z</dcterms:modified>
</cp:coreProperties>
</file>